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5"/>
  </p:notesMasterIdLst>
  <p:handoutMasterIdLst>
    <p:handoutMasterId r:id="rId16"/>
  </p:handoutMasterIdLst>
  <p:sldIdLst>
    <p:sldId id="410" r:id="rId5"/>
    <p:sldId id="418" r:id="rId6"/>
    <p:sldId id="411" r:id="rId7"/>
    <p:sldId id="412" r:id="rId8"/>
    <p:sldId id="414" r:id="rId9"/>
    <p:sldId id="413" r:id="rId10"/>
    <p:sldId id="416" r:id="rId11"/>
    <p:sldId id="417" r:id="rId12"/>
    <p:sldId id="415" r:id="rId13"/>
    <p:sldId id="39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9EC90-D400-140E-A47D-E36844FBE6B6}" v="1122" dt="2025-12-08T22:57:40.407"/>
    <p1510:client id="{BA36B6E8-F5A7-40E8-86C7-B124A3D34F40}" v="202" dt="2025-12-09T00:30:17.420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6327" autoAdjust="0"/>
  </p:normalViewPr>
  <p:slideViewPr>
    <p:cSldViewPr snapToGrid="0">
      <p:cViewPr varScale="1">
        <p:scale>
          <a:sx n="94" d="100"/>
          <a:sy n="94" d="100"/>
        </p:scale>
        <p:origin x="187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EC1B9-9F5E-12EC-94F2-1E3BF677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F4E1C-362A-F782-7DCD-95CC59936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92214-7CEC-2C9B-44B9-2811DC787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F6D60-8849-5E0C-023F-871127F8B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62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B9B79-5171-90DD-0AF1-E5EDECC4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A6378-5BE0-9A27-7F1F-45F32D607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67707-877A-18B7-55E1-DB35F0023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3698C-03EC-584E-85A9-3298809F1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92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D22A4-B421-D99A-41C3-FFF91D0A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56312-62DA-7B8F-A687-C75374A9E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5E1C5-7191-CA4C-D187-38B6AB28F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76CA2-0229-8FA7-51A3-29DCDFC1E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391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20191-058B-5E73-B4C5-A9E8822D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BE7DC-8532-D645-17C2-4E2660BBA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8BF1C-7DB0-348B-16EC-13AEA32E1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DCA7D-08FF-5F5D-A0B0-A54CFB2D2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81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EEEA9-9463-6651-0960-F9D12A24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DDB6A-8535-5E04-0EE4-D4F9AAC87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14F11-27B0-AD92-BF90-9A40885AC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A3853-5F8B-A281-CCEB-C4EBA920C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55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D3CF-D3BC-DE16-4123-9B95181E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6A6AA-2A26-F4BE-E789-E09902668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2B0A2-DFA1-37E0-A904-98D5D85D9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3ACC9-3039-DE76-A1BD-01EDB1BF2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3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43C58-F68A-A595-68A6-F4DE95D0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67EDA-D689-95A6-227F-17923EE46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4DF9A-AAB5-9EFA-6437-3CB66312C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022F9-881F-197E-EA3F-56E8144B4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96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A3F08-4912-EB98-6A0B-C8FBD248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07476-3EC6-D876-CFC3-A905D5CB3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DC485-B917-EE4E-85D4-79BF4FBAC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0FD02-1883-A1FE-E383-E8E5883C2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67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Hand</a:t>
            </a:r>
            <a:br>
              <a:rPr lang="en-US" dirty="0"/>
            </a:br>
            <a:r>
              <a:rPr lang="en-US" dirty="0"/>
              <a:t>Gesture</a:t>
            </a:r>
            <a:br>
              <a:rPr lang="en-US" dirty="0"/>
            </a:br>
            <a:r>
              <a:rPr lang="en-US" dirty="0"/>
              <a:t>Recognition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25E58-F8FE-1C46-A202-931C863AA9DB}"/>
              </a:ext>
            </a:extLst>
          </p:cNvPr>
          <p:cNvSpPr txBox="1"/>
          <p:nvPr/>
        </p:nvSpPr>
        <p:spPr>
          <a:xfrm>
            <a:off x="6309904" y="4220936"/>
            <a:ext cx="4426132" cy="279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Lato Extended"/>
              </a:rPr>
              <a:t>Team name: ECE4380Group project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4834-C73B-57ED-FE3D-E4929DD6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3DB2-4C03-5629-0C07-DF122E189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11002265" cy="1537063"/>
          </a:xfrm>
        </p:spPr>
        <p:txBody>
          <a:bodyPr/>
          <a:lstStyle/>
          <a:p>
            <a:r>
              <a:rPr lang="en-US" sz="5400" dirty="0"/>
              <a:t>Team Member Roles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10F781-09A3-9EAC-E8A4-273522050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19" y="2949336"/>
            <a:ext cx="11318962" cy="18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0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5AE0-1356-894E-5EE6-BB6DD693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7013F-E310-BAA8-2BA7-85D4CFA2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anchor="b">
            <a:normAutofit/>
          </a:bodyPr>
          <a:lstStyle/>
          <a:p>
            <a:r>
              <a:rPr lang="en-US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8DBC1-1F24-F39A-A8B0-08E4A92F6A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1884446"/>
            <a:ext cx="5746750" cy="3597470"/>
          </a:xfrm>
        </p:spPr>
        <p:txBody>
          <a:bodyPr vert="horz" lIns="0" tIns="457200" rIns="0" bIns="0" rtlCol="0" anchor="t">
            <a:noAutofit/>
          </a:bodyPr>
          <a:lstStyle/>
          <a:p>
            <a:pPr marL="285750" indent="-285750">
              <a:buChar char="•"/>
            </a:pPr>
            <a:r>
              <a:rPr lang="en-US" sz="2400"/>
              <a:t>Using the Raspberry Pi AI Kit to identify gestures</a:t>
            </a:r>
          </a:p>
          <a:p>
            <a:pPr lvl="1" indent="-283210">
              <a:buFont typeface="Courier New" panose="020B0604020202020204" pitchFamily="34" charset="0"/>
              <a:buChar char="o"/>
            </a:pPr>
            <a:r>
              <a:rPr lang="en-US" sz="2400" b="1"/>
              <a:t>Open Palm</a:t>
            </a:r>
          </a:p>
          <a:p>
            <a:pPr lvl="1" indent="-283210">
              <a:buFont typeface="Courier New" panose="020B0604020202020204" pitchFamily="34" charset="0"/>
              <a:buChar char="o"/>
            </a:pPr>
            <a:r>
              <a:rPr lang="en-US" sz="2400" b="1"/>
              <a:t>Fist</a:t>
            </a:r>
            <a:endParaRPr lang="en-US" sz="2400"/>
          </a:p>
          <a:p>
            <a:pPr lvl="1" indent="-283210">
              <a:buFont typeface="Courier New" panose="020B0604020202020204" pitchFamily="34" charset="0"/>
              <a:buChar char="o"/>
            </a:pPr>
            <a:r>
              <a:rPr lang="en-US" sz="2400" b="1"/>
              <a:t>Point</a:t>
            </a:r>
            <a:endParaRPr lang="en-US" sz="2400"/>
          </a:p>
          <a:p>
            <a:pPr lvl="1" indent="-283210">
              <a:buFont typeface="Courier New" panose="020B0604020202020204" pitchFamily="34" charset="0"/>
              <a:buChar char="o"/>
            </a:pPr>
            <a:r>
              <a:rPr lang="en-US" sz="2400" b="1"/>
              <a:t>Thumbs up</a:t>
            </a:r>
            <a:endParaRPr lang="en-US" sz="2400"/>
          </a:p>
          <a:p>
            <a:pPr lvl="1" indent="-283210">
              <a:buFont typeface="Courier New" panose="020B0604020202020204" pitchFamily="34" charset="0"/>
              <a:buChar char="o"/>
            </a:pPr>
            <a:r>
              <a:rPr lang="en-US" sz="2400" b="1"/>
              <a:t>No Gesture</a:t>
            </a:r>
            <a:endParaRPr lang="en-US" sz="2400"/>
          </a:p>
          <a:p>
            <a:pPr marL="285750" indent="-285750">
              <a:buChar char="•"/>
            </a:pPr>
            <a:r>
              <a:rPr lang="en-US" sz="2400"/>
              <a:t>Gestures are printed when detected and measured for response time</a:t>
            </a:r>
          </a:p>
          <a:p>
            <a:pPr marL="285750" indent="-285750">
              <a:buChar char="•"/>
            </a:pPr>
            <a:r>
              <a:rPr lang="en-US" sz="2400"/>
              <a:t>Could enable touch-free controlling for devices</a:t>
            </a:r>
          </a:p>
        </p:txBody>
      </p:sp>
      <p:pic>
        <p:nvPicPr>
          <p:cNvPr id="4" name="Picture 3" descr="A green electronic device with many ports&#10;&#10;AI-generated content may be incorrect.">
            <a:extLst>
              <a:ext uri="{FF2B5EF4-FFF2-40B4-BE49-F238E27FC236}">
                <a16:creationId xmlns:a16="http://schemas.microsoft.com/office/drawing/2014/main" id="{5132D1FA-3DAC-7E42-A851-1C9A02513F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38" b="1"/>
          <a:stretch>
            <a:fillRect/>
          </a:stretch>
        </p:blipFill>
        <p:spPr>
          <a:xfrm>
            <a:off x="7620000" y="2676525"/>
            <a:ext cx="3947160" cy="35974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07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104EF-BA17-6243-B95C-9481B317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595B-A1FE-9D33-A33C-9304D358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11002265" cy="1537063"/>
          </a:xfrm>
        </p:spPr>
        <p:txBody>
          <a:bodyPr/>
          <a:lstStyle/>
          <a:p>
            <a:r>
              <a:rPr lang="en-US" sz="5400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43110-17C7-8871-6488-63C8791B9C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283210" indent="-283210"/>
            <a:r>
              <a:rPr lang="en-US" sz="3600">
                <a:solidFill>
                  <a:schemeClr val="bg1"/>
                </a:solidFill>
              </a:rPr>
              <a:t>Camera Quality</a:t>
            </a:r>
          </a:p>
          <a:p>
            <a:pPr marL="283210" indent="-283210"/>
            <a:r>
              <a:rPr lang="en-US" sz="3600">
                <a:solidFill>
                  <a:schemeClr val="bg1"/>
                </a:solidFill>
              </a:rPr>
              <a:t>Minimum/Maximum Distance from Camera</a:t>
            </a:r>
          </a:p>
          <a:p>
            <a:pPr marL="283210" indent="-283210"/>
            <a:r>
              <a:rPr lang="en-US" sz="3600">
                <a:solidFill>
                  <a:schemeClr val="bg1"/>
                </a:solidFill>
              </a:rPr>
              <a:t>Lighting Conditions</a:t>
            </a:r>
          </a:p>
          <a:p>
            <a:pPr marL="0" indent="0">
              <a:buNone/>
            </a:pPr>
            <a:endParaRPr lang="en-US"/>
          </a:p>
          <a:p>
            <a:pPr marL="283210" indent="-283210"/>
            <a:endParaRPr lang="en-US"/>
          </a:p>
          <a:p>
            <a:pPr marL="283210" indent="-283210"/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2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2E823-C110-032C-06C1-C79F75EF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1E1C3-AB93-754C-4CE1-89B73E9FA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11020925" cy="3291840"/>
          </a:xfrm>
        </p:spPr>
        <p:txBody>
          <a:bodyPr/>
          <a:lstStyle/>
          <a:p>
            <a:r>
              <a:rPr lang="en-US"/>
              <a:t>Plan to Finish </a:t>
            </a:r>
          </a:p>
        </p:txBody>
      </p:sp>
    </p:spTree>
    <p:extLst>
      <p:ext uri="{BB962C8B-B14F-4D97-AF65-F5344CB8AC3E}">
        <p14:creationId xmlns:p14="http://schemas.microsoft.com/office/powerpoint/2010/main" val="1609498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8AC9-ABF8-558E-0C83-9937AD5E8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2C4D-2A3F-64B0-4469-ED3E35AC8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11002265" cy="1537063"/>
          </a:xfrm>
        </p:spPr>
        <p:txBody>
          <a:bodyPr/>
          <a:lstStyle/>
          <a:p>
            <a:r>
              <a:rPr lang="en-US" sz="5400">
                <a:latin typeface="Franklin Gothic Book"/>
              </a:rPr>
              <a:t>Complete Data Collection</a:t>
            </a:r>
            <a:endParaRPr lang="en-US" sz="5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32D1F-404E-807C-E594-85F9C8C469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3508239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283210" indent="-283210"/>
            <a:r>
              <a:rPr lang="en-US">
                <a:solidFill>
                  <a:schemeClr val="bg1"/>
                </a:solidFill>
              </a:rPr>
              <a:t>Using the HaGRID dataset of gestures</a:t>
            </a:r>
          </a:p>
          <a:p>
            <a:pPr marL="283210" indent="-283210"/>
            <a:r>
              <a:rPr lang="en-US">
                <a:solidFill>
                  <a:schemeClr val="bg1"/>
                </a:solidFill>
              </a:rPr>
              <a:t>Possibility of adding more images from Raspberry Pi AI Kit camera</a:t>
            </a:r>
          </a:p>
          <a:p>
            <a:pPr marL="283210" indent="-283210"/>
            <a:endParaRPr lang="en-US">
              <a:solidFill>
                <a:schemeClr val="bg1"/>
              </a:solidFill>
            </a:endParaRPr>
          </a:p>
          <a:p>
            <a:pPr marL="283210" indent="-283210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person pointing at the camera&#10;&#10;AI-generated content may be incorrect.">
            <a:extLst>
              <a:ext uri="{FF2B5EF4-FFF2-40B4-BE49-F238E27FC236}">
                <a16:creationId xmlns:a16="http://schemas.microsoft.com/office/drawing/2014/main" id="{F8AE28D2-86D9-6974-DEC7-F08932EEA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627" y="2282480"/>
            <a:ext cx="3509617" cy="3717649"/>
          </a:xfrm>
          <a:prstGeom prst="rect">
            <a:avLst/>
          </a:prstGeom>
        </p:spPr>
      </p:pic>
      <p:pic>
        <p:nvPicPr>
          <p:cNvPr id="6" name="Picture 5" descr="A person holding a mug&#10;&#10;AI-generated content may be incorrect.">
            <a:extLst>
              <a:ext uri="{FF2B5EF4-FFF2-40B4-BE49-F238E27FC236}">
                <a16:creationId xmlns:a16="http://schemas.microsoft.com/office/drawing/2014/main" id="{5E7667AC-F39E-8519-85EC-36287473B6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5" b="9286"/>
          <a:stretch>
            <a:fillRect/>
          </a:stretch>
        </p:blipFill>
        <p:spPr>
          <a:xfrm>
            <a:off x="9077875" y="1728098"/>
            <a:ext cx="2521727" cy="37210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E7748D-483F-B4E2-DCE8-1F5852D79C03}"/>
              </a:ext>
            </a:extLst>
          </p:cNvPr>
          <p:cNvSpPr txBox="1"/>
          <p:nvPr/>
        </p:nvSpPr>
        <p:spPr>
          <a:xfrm>
            <a:off x="4347320" y="5986947"/>
            <a:ext cx="35475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Point Gesture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491FB-DA38-0E45-C008-FE64AFBB83D3}"/>
              </a:ext>
            </a:extLst>
          </p:cNvPr>
          <p:cNvSpPr txBox="1"/>
          <p:nvPr/>
        </p:nvSpPr>
        <p:spPr>
          <a:xfrm>
            <a:off x="8989503" y="5445526"/>
            <a:ext cx="35475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No Gesture</a:t>
            </a:r>
          </a:p>
        </p:txBody>
      </p:sp>
    </p:spTree>
    <p:extLst>
      <p:ext uri="{BB962C8B-B14F-4D97-AF65-F5344CB8AC3E}">
        <p14:creationId xmlns:p14="http://schemas.microsoft.com/office/powerpoint/2010/main" val="197523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0E2D7-ADA1-FBC2-4DBF-95E40255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DCDE-7AD5-E78D-1C65-E74F5D2F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11002265" cy="1537063"/>
          </a:xfrm>
        </p:spPr>
        <p:txBody>
          <a:bodyPr/>
          <a:lstStyle/>
          <a:p>
            <a:r>
              <a:rPr lang="en-US" sz="5400">
                <a:latin typeface="Franklin Gothic Book"/>
              </a:rPr>
              <a:t>Build Model</a:t>
            </a:r>
            <a:endParaRPr lang="en-US" sz="5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66DA7-CACB-41FE-11ED-F4A2486A38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Using tensor flow train a CNN from Data collected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Convert model to a Hailo-Compatible HEF model using Hailo dataflow Compiler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Deploy to the Raspberry PI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283210" indent="-283210"/>
            <a:endParaRPr lang="en-US" dirty="0">
              <a:solidFill>
                <a:schemeClr val="bg1"/>
              </a:solidFill>
            </a:endParaRPr>
          </a:p>
          <a:p>
            <a:pPr marL="283210" indent="-283210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5F9699E2-004C-86C6-C739-11AA45A43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759347" y="1126671"/>
            <a:ext cx="6139543" cy="460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20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C9BEA-09B1-FAFF-5C89-CC3F6C3A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A609-468D-0FAB-13DF-7BD49216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11002265" cy="1537063"/>
          </a:xfrm>
        </p:spPr>
        <p:txBody>
          <a:bodyPr/>
          <a:lstStyle/>
          <a:p>
            <a:r>
              <a:rPr lang="en-US" sz="5400">
                <a:latin typeface="Franklin Gothic Book"/>
              </a:rPr>
              <a:t>Test and Analyze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D17E3-129E-3410-3EA6-983162635F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283210" indent="-283210"/>
            <a:r>
              <a:rPr lang="en-US" sz="3600">
                <a:solidFill>
                  <a:schemeClr val="bg1"/>
                </a:solidFill>
              </a:rPr>
              <a:t>Test the gesture detection with different people and in different lighting conditions</a:t>
            </a:r>
          </a:p>
          <a:p>
            <a:pPr marL="283210" indent="-283210"/>
            <a:r>
              <a:rPr lang="en-US" sz="3600">
                <a:solidFill>
                  <a:schemeClr val="bg1"/>
                </a:solidFill>
              </a:rPr>
              <a:t>Record the accuracy and speed of detections</a:t>
            </a:r>
          </a:p>
          <a:p>
            <a:pPr marL="283210" indent="-283210"/>
            <a:endParaRPr lang="en-US">
              <a:solidFill>
                <a:schemeClr val="bg1"/>
              </a:solidFill>
            </a:endParaRPr>
          </a:p>
          <a:p>
            <a:pPr marL="283210" indent="-283210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204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8B0B-6747-5C2B-11C0-B24E04B0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1221-0F23-94EE-30CD-AB0E0AF5D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11002265" cy="1537063"/>
          </a:xfrm>
        </p:spPr>
        <p:txBody>
          <a:bodyPr/>
          <a:lstStyle/>
          <a:p>
            <a:r>
              <a:rPr lang="en-US" sz="4800">
                <a:latin typeface="Franklin Gothic Book"/>
              </a:rPr>
              <a:t>Record Video Demonstration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D2F3E-6D99-A94E-AAA2-6C02AC9383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283210" indent="-283210"/>
            <a:r>
              <a:rPr lang="en-US" sz="3600">
                <a:solidFill>
                  <a:schemeClr val="bg1"/>
                </a:solidFill>
              </a:rPr>
              <a:t>Record video explaining the project and showcasing how it works</a:t>
            </a:r>
          </a:p>
          <a:p>
            <a:pPr marL="283210" indent="-283210"/>
            <a:r>
              <a:rPr lang="en-US" sz="3600">
                <a:solidFill>
                  <a:schemeClr val="bg1"/>
                </a:solidFill>
              </a:rPr>
              <a:t>Discuss results and challenges</a:t>
            </a:r>
          </a:p>
          <a:p>
            <a:pPr marL="283210" indent="-283210"/>
            <a:r>
              <a:rPr lang="en-US" sz="3600">
                <a:solidFill>
                  <a:schemeClr val="bg1"/>
                </a:solidFill>
              </a:rPr>
              <a:t>Explore possible use cases</a:t>
            </a:r>
          </a:p>
        </p:txBody>
      </p:sp>
    </p:spTree>
    <p:extLst>
      <p:ext uri="{BB962C8B-B14F-4D97-AF65-F5344CB8AC3E}">
        <p14:creationId xmlns:p14="http://schemas.microsoft.com/office/powerpoint/2010/main" val="1392337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{FF8FDA3C-D79B-4566-9D38-A3EE8896429B}TFd3b75063-ff25-434d-b12c-efeaf07d16c3292f62b5_win32-75a75c970d8e</Template>
  <TotalTime>522</TotalTime>
  <Words>169</Words>
  <Application>Microsoft Office PowerPoint</Application>
  <PresentationFormat>Widescreen</PresentationFormat>
  <Paragraphs>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Franklin Gothic Book</vt:lpstr>
      <vt:lpstr>Franklin Gothic Demi</vt:lpstr>
      <vt:lpstr>Lato Extended</vt:lpstr>
      <vt:lpstr>Custom</vt:lpstr>
      <vt:lpstr>Hand Gesture Recognition</vt:lpstr>
      <vt:lpstr>Team Member Roles</vt:lpstr>
      <vt:lpstr>Project Overview</vt:lpstr>
      <vt:lpstr>Limitations</vt:lpstr>
      <vt:lpstr>Plan to Finish </vt:lpstr>
      <vt:lpstr>Complete Data Collection</vt:lpstr>
      <vt:lpstr>Build Model</vt:lpstr>
      <vt:lpstr>Test and Analyze Results</vt:lpstr>
      <vt:lpstr>Record Video Demonstration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Mayhew, Miles Dean (bua9wn)</dc:creator>
  <cp:lastModifiedBy>Mayhew, Miles Dean (bua9wn)</cp:lastModifiedBy>
  <cp:revision>2</cp:revision>
  <dcterms:created xsi:type="dcterms:W3CDTF">2025-12-08T15:49:07Z</dcterms:created>
  <dcterms:modified xsi:type="dcterms:W3CDTF">2025-12-09T00:31:30Z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