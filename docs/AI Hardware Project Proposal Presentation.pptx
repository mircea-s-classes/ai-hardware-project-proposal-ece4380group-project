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Figtree"/>
      <p:regular r:id="rId11"/>
      <p:bold r:id="rId12"/>
      <p:italic r:id="rId13"/>
      <p:boldItalic r:id="rId14"/>
    </p:embeddedFont>
    <p:embeddedFont>
      <p:font typeface="Jost Light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Figtree Light"/>
      <p:regular r:id="rId23"/>
      <p:bold r:id="rId24"/>
      <p:italic r:id="rId25"/>
      <p:boldItalic r:id="rId26"/>
    </p:embeddedFont>
    <p:embeddedFont>
      <p:font typeface="Jo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FigtreeLight-bold.fntdata"/><Relationship Id="rId23" Type="http://schemas.openxmlformats.org/officeDocument/2006/relationships/font" Target="fonts/Figtree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Light-boldItalic.fntdata"/><Relationship Id="rId25" Type="http://schemas.openxmlformats.org/officeDocument/2006/relationships/font" Target="fonts/FigtreeLight-italic.fntdata"/><Relationship Id="rId28" Type="http://schemas.openxmlformats.org/officeDocument/2006/relationships/font" Target="fonts/Jost-bold.fntdata"/><Relationship Id="rId27" Type="http://schemas.openxmlformats.org/officeDocument/2006/relationships/font" Target="fonts/Jos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o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Jost-boldItalic.fntdata"/><Relationship Id="rId11" Type="http://schemas.openxmlformats.org/officeDocument/2006/relationships/font" Target="fonts/Figtree-regular.fntdata"/><Relationship Id="rId10" Type="http://schemas.openxmlformats.org/officeDocument/2006/relationships/slide" Target="slides/slide5.xml"/><Relationship Id="rId13" Type="http://schemas.openxmlformats.org/officeDocument/2006/relationships/font" Target="fonts/Figtree-italic.fntdata"/><Relationship Id="rId12" Type="http://schemas.openxmlformats.org/officeDocument/2006/relationships/font" Target="fonts/Figtree-bold.fntdata"/><Relationship Id="rId15" Type="http://schemas.openxmlformats.org/officeDocument/2006/relationships/font" Target="fonts/JostLight-regular.fntdata"/><Relationship Id="rId14" Type="http://schemas.openxmlformats.org/officeDocument/2006/relationships/font" Target="fonts/Figtree-boldItalic.fntdata"/><Relationship Id="rId17" Type="http://schemas.openxmlformats.org/officeDocument/2006/relationships/font" Target="fonts/JostLight-italic.fntdata"/><Relationship Id="rId16" Type="http://schemas.openxmlformats.org/officeDocument/2006/relationships/font" Target="fonts/JostLight-bold.fntdata"/><Relationship Id="rId19" Type="http://schemas.openxmlformats.org/officeDocument/2006/relationships/font" Target="fonts/Roboto-regular.fntdata"/><Relationship Id="rId18" Type="http://schemas.openxmlformats.org/officeDocument/2006/relationships/font" Target="fonts/Jost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0bd3e7119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0bd3e7119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0bd3e7119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a0bd3e7119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0bd3e7119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0bd3e7119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a0bd3e7119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a0bd3e7119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0bd3e7119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a0bd3e7119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6" l="0" r="0" t="14413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type="title"/>
          </p:nvPr>
        </p:nvSpPr>
        <p:spPr>
          <a:xfrm>
            <a:off x="228225" y="4036612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Zackary Dickens, Miles Mayhew</a:t>
            </a:r>
            <a:endParaRPr sz="1400"/>
          </a:p>
        </p:txBody>
      </p:sp>
      <p:sp>
        <p:nvSpPr>
          <p:cNvPr id="439" name="Google Shape;439;p48"/>
          <p:cNvSpPr txBox="1"/>
          <p:nvPr>
            <p:ph idx="3" type="title"/>
          </p:nvPr>
        </p:nvSpPr>
        <p:spPr>
          <a:xfrm>
            <a:off x="432743" y="730358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Gesture Recognition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>
            <p:ph idx="2" type="subTitle"/>
          </p:nvPr>
        </p:nvSpPr>
        <p:spPr>
          <a:xfrm>
            <a:off x="228600" y="1613850"/>
            <a:ext cx="5340300" cy="344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1900">
                <a:solidFill>
                  <a:schemeClr val="dk1"/>
                </a:solidFill>
              </a:rPr>
              <a:t>Use</a:t>
            </a:r>
            <a:r>
              <a:rPr lang="en" sz="1900">
                <a:solidFill>
                  <a:srgbClr val="C27BA0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the Raspberry Pi AI Kit to identify gestures</a:t>
            </a:r>
            <a:endParaRPr sz="1900"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" sz="1900">
                <a:solidFill>
                  <a:schemeClr val="dk1"/>
                </a:solidFill>
              </a:rPr>
              <a:t>Open Palm</a:t>
            </a:r>
            <a:endParaRPr sz="1900"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" sz="1900">
                <a:solidFill>
                  <a:schemeClr val="dk1"/>
                </a:solidFill>
              </a:rPr>
              <a:t>Fist</a:t>
            </a:r>
            <a:endParaRPr sz="1900"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" sz="1900">
                <a:solidFill>
                  <a:schemeClr val="dk1"/>
                </a:solidFill>
              </a:rPr>
              <a:t>Point</a:t>
            </a:r>
            <a:endParaRPr sz="1900"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" sz="1900">
                <a:solidFill>
                  <a:schemeClr val="dk1"/>
                </a:solidFill>
              </a:rPr>
              <a:t>Thumbs Up</a:t>
            </a:r>
            <a:endParaRPr sz="19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1900">
                <a:solidFill>
                  <a:schemeClr val="dk1"/>
                </a:solidFill>
              </a:rPr>
              <a:t>Gestures will be printed when detected and measured for response time</a:t>
            </a:r>
            <a:endParaRPr sz="19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1900">
                <a:solidFill>
                  <a:schemeClr val="dk1"/>
                </a:solidFill>
              </a:rPr>
              <a:t>Could enable touch-free controlling for devices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45" name="Google Shape;445;p49"/>
          <p:cNvSpPr txBox="1"/>
          <p:nvPr>
            <p:ph idx="3" type="title"/>
          </p:nvPr>
        </p:nvSpPr>
        <p:spPr>
          <a:xfrm>
            <a:off x="385800" y="300429"/>
            <a:ext cx="8278500" cy="715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Idea</a:t>
            </a:r>
            <a:endParaRPr/>
          </a:p>
        </p:txBody>
      </p:sp>
      <p:pic>
        <p:nvPicPr>
          <p:cNvPr id="446" name="Google Shape;446;p49"/>
          <p:cNvPicPr preferRelativeResize="0"/>
          <p:nvPr/>
        </p:nvPicPr>
        <p:blipFill rotWithShape="1">
          <a:blip r:embed="rId3">
            <a:alphaModFix/>
          </a:blip>
          <a:srcRect b="21987" l="19465" r="17783" t="28612"/>
          <a:stretch/>
        </p:blipFill>
        <p:spPr>
          <a:xfrm>
            <a:off x="6693250" y="1316900"/>
            <a:ext cx="2102950" cy="184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9"/>
          <p:cNvPicPr preferRelativeResize="0"/>
          <p:nvPr/>
        </p:nvPicPr>
        <p:blipFill rotWithShape="1">
          <a:blip r:embed="rId4">
            <a:alphaModFix/>
          </a:blip>
          <a:srcRect b="15743" l="15279" r="16900" t="9680"/>
          <a:stretch/>
        </p:blipFill>
        <p:spPr>
          <a:xfrm>
            <a:off x="5715000" y="3165600"/>
            <a:ext cx="1677202" cy="184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0"/>
          <p:cNvSpPr txBox="1"/>
          <p:nvPr>
            <p:ph idx="2" type="subTitle"/>
          </p:nvPr>
        </p:nvSpPr>
        <p:spPr>
          <a:xfrm>
            <a:off x="393150" y="1452650"/>
            <a:ext cx="5340300" cy="25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300">
                <a:solidFill>
                  <a:schemeClr val="dk1"/>
                </a:solidFill>
              </a:rPr>
              <a:t>Gestures should be classified correctly more than 90% of the time</a:t>
            </a:r>
            <a:endParaRPr sz="23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300">
                <a:solidFill>
                  <a:schemeClr val="dk1"/>
                </a:solidFill>
              </a:rPr>
              <a:t>Gestures should be detected and printed within 150 ms of being performed</a:t>
            </a:r>
            <a:endParaRPr sz="23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300">
                <a:solidFill>
                  <a:schemeClr val="dk1"/>
                </a:solidFill>
              </a:rPr>
              <a:t>Testing will </a:t>
            </a:r>
            <a:r>
              <a:rPr lang="en" sz="2300">
                <a:solidFill>
                  <a:schemeClr val="dk1"/>
                </a:solidFill>
              </a:rPr>
              <a:t>occur</a:t>
            </a:r>
            <a:r>
              <a:rPr lang="en" sz="2300">
                <a:solidFill>
                  <a:schemeClr val="dk1"/>
                </a:solidFill>
              </a:rPr>
              <a:t> in different lighting conditions and by different users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453" name="Google Shape;453;p50"/>
          <p:cNvSpPr txBox="1"/>
          <p:nvPr>
            <p:ph idx="3" type="title"/>
          </p:nvPr>
        </p:nvSpPr>
        <p:spPr>
          <a:xfrm>
            <a:off x="432750" y="228605"/>
            <a:ext cx="8278500" cy="586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/>
              <a:t>Validation Metrics</a:t>
            </a:r>
            <a:endParaRPr sz="7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1"/>
          <p:cNvSpPr txBox="1"/>
          <p:nvPr>
            <p:ph idx="3" type="title"/>
          </p:nvPr>
        </p:nvSpPr>
        <p:spPr>
          <a:xfrm>
            <a:off x="385793" y="228608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</a:t>
            </a:r>
            <a:endParaRPr/>
          </a:p>
        </p:txBody>
      </p:sp>
      <p:sp>
        <p:nvSpPr>
          <p:cNvPr id="459" name="Google Shape;459;p51"/>
          <p:cNvSpPr/>
          <p:nvPr/>
        </p:nvSpPr>
        <p:spPr>
          <a:xfrm rot="-711418">
            <a:off x="6952938" y="2991344"/>
            <a:ext cx="1676163" cy="7149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3450" lIns="113450" spcFirstLastPara="1" rIns="113450" wrap="square" tIns="11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1"/>
          <p:cNvSpPr/>
          <p:nvPr/>
        </p:nvSpPr>
        <p:spPr>
          <a:xfrm flipH="1" rot="711418">
            <a:off x="5358787" y="2991344"/>
            <a:ext cx="1676163" cy="7149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3450" lIns="113450" spcFirstLastPara="1" rIns="113450" wrap="square" tIns="11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1" name="Google Shape;461;p51"/>
          <p:cNvGrpSpPr/>
          <p:nvPr/>
        </p:nvGrpSpPr>
        <p:grpSpPr>
          <a:xfrm>
            <a:off x="5861501" y="3060924"/>
            <a:ext cx="2125118" cy="1527071"/>
            <a:chOff x="5796625" y="2541798"/>
            <a:chExt cx="1712700" cy="1230715"/>
          </a:xfrm>
        </p:grpSpPr>
        <p:sp>
          <p:nvSpPr>
            <p:cNvPr id="462" name="Google Shape;462;p51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47275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51"/>
            <p:cNvSpPr/>
            <p:nvPr/>
          </p:nvSpPr>
          <p:spPr>
            <a:xfrm>
              <a:off x="579662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</p:txBody>
        </p:sp>
        <p:sp>
          <p:nvSpPr>
            <p:cNvPr id="464" name="Google Shape;464;p51"/>
            <p:cNvSpPr txBox="1"/>
            <p:nvPr/>
          </p:nvSpPr>
          <p:spPr>
            <a:xfrm>
              <a:off x="584087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3450" lIns="113450" spcFirstLastPara="1" rIns="113450" wrap="square" tIns="113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388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Testing and Presenting</a:t>
              </a:r>
              <a:endParaRPr b="1" sz="1388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985"/>
                </a:spcAft>
                <a:buNone/>
              </a:pPr>
              <a:r>
                <a:t/>
              </a:r>
              <a:endParaRPr sz="99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5" name="Google Shape;465;p51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6" name="Google Shape;466;p51"/>
          <p:cNvSpPr/>
          <p:nvPr/>
        </p:nvSpPr>
        <p:spPr>
          <a:xfrm rot="-711418">
            <a:off x="3769273" y="2991344"/>
            <a:ext cx="1676163" cy="7149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3450" lIns="113450" spcFirstLastPara="1" rIns="113450" wrap="square" tIns="11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7" name="Google Shape;467;p51"/>
          <p:cNvGrpSpPr/>
          <p:nvPr/>
        </p:nvGrpSpPr>
        <p:grpSpPr>
          <a:xfrm>
            <a:off x="4306686" y="1446429"/>
            <a:ext cx="2125118" cy="1546972"/>
            <a:chOff x="4409300" y="1219942"/>
            <a:chExt cx="1712700" cy="1246754"/>
          </a:xfrm>
        </p:grpSpPr>
        <p:sp>
          <p:nvSpPr>
            <p:cNvPr id="468" name="Google Shape;468;p51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47275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1"/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</p:txBody>
        </p:sp>
        <p:sp>
          <p:nvSpPr>
            <p:cNvPr id="470" name="Google Shape;470;p51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51"/>
            <p:cNvSpPr txBox="1"/>
            <p:nvPr/>
          </p:nvSpPr>
          <p:spPr>
            <a:xfrm>
              <a:off x="4453550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3450" lIns="113450" spcFirstLastPara="1" rIns="113450" wrap="square" tIns="113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388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Gesture Mapping and System Control</a:t>
              </a:r>
              <a:endParaRPr b="1" sz="1388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985"/>
                </a:spcAft>
                <a:buNone/>
              </a:pPr>
              <a:r>
                <a:t/>
              </a:r>
              <a:endParaRPr sz="992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72" name="Google Shape;472;p51"/>
          <p:cNvSpPr/>
          <p:nvPr/>
        </p:nvSpPr>
        <p:spPr>
          <a:xfrm flipH="1" rot="711418">
            <a:off x="2166508" y="2991344"/>
            <a:ext cx="1676163" cy="71491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113450" lIns="113450" spcFirstLastPara="1" rIns="113450" wrap="square" tIns="11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3" name="Google Shape;473;p51"/>
          <p:cNvGrpSpPr/>
          <p:nvPr/>
        </p:nvGrpSpPr>
        <p:grpSpPr>
          <a:xfrm>
            <a:off x="2747729" y="3060924"/>
            <a:ext cx="2125118" cy="1527071"/>
            <a:chOff x="3021975" y="2541798"/>
            <a:chExt cx="1712700" cy="1230715"/>
          </a:xfrm>
        </p:grpSpPr>
        <p:sp>
          <p:nvSpPr>
            <p:cNvPr id="474" name="Google Shape;474;p51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47275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51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</p:txBody>
        </p:sp>
        <p:sp>
          <p:nvSpPr>
            <p:cNvPr id="476" name="Google Shape;476;p51"/>
            <p:cNvSpPr txBox="1"/>
            <p:nvPr/>
          </p:nvSpPr>
          <p:spPr>
            <a:xfrm>
              <a:off x="306622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3450" lIns="113450" spcFirstLastPara="1" rIns="113450" wrap="square" tIns="113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388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Model and Gesture Training</a:t>
              </a:r>
              <a:endParaRPr b="1" sz="138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985"/>
                </a:spcAft>
                <a:buNone/>
              </a:pPr>
              <a:r>
                <a:t/>
              </a:r>
              <a:endParaRPr sz="99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" name="Google Shape;477;p51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51"/>
          <p:cNvSpPr/>
          <p:nvPr/>
        </p:nvSpPr>
        <p:spPr>
          <a:xfrm rot="-711418">
            <a:off x="585617" y="2991344"/>
            <a:ext cx="1676163" cy="71491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113450" lIns="113450" spcFirstLastPara="1" rIns="113450" wrap="square" tIns="11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9" name="Google Shape;479;p51"/>
          <p:cNvGrpSpPr/>
          <p:nvPr/>
        </p:nvGrpSpPr>
        <p:grpSpPr>
          <a:xfrm>
            <a:off x="1151053" y="1446429"/>
            <a:ext cx="2125118" cy="1546972"/>
            <a:chOff x="1637475" y="1219942"/>
            <a:chExt cx="1712700" cy="1246754"/>
          </a:xfrm>
        </p:grpSpPr>
        <p:sp>
          <p:nvSpPr>
            <p:cNvPr id="480" name="Google Shape;480;p51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7"/>
            </a:p>
          </p:txBody>
        </p:sp>
        <p:sp>
          <p:nvSpPr>
            <p:cNvPr id="481" name="Google Shape;481;p51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1"/>
            <p:cNvSpPr txBox="1"/>
            <p:nvPr/>
          </p:nvSpPr>
          <p:spPr>
            <a:xfrm>
              <a:off x="1681725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3450" lIns="113450" spcFirstLastPara="1" rIns="113450" wrap="square" tIns="113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388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Hardware Setup and Integration</a:t>
              </a:r>
              <a:endParaRPr b="1" sz="138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985"/>
                </a:spcAft>
                <a:buNone/>
              </a:pPr>
              <a:r>
                <a:t/>
              </a:r>
              <a:endParaRPr sz="99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" name="Google Shape;483;p51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47275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3450" lIns="113450" spcFirstLastPara="1" rIns="113450" wrap="square" tIns="113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2"/>
          <p:cNvSpPr txBox="1"/>
          <p:nvPr>
            <p:ph idx="3" type="title"/>
          </p:nvPr>
        </p:nvSpPr>
        <p:spPr>
          <a:xfrm>
            <a:off x="331218" y="3559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